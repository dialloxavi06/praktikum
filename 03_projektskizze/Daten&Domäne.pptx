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83">
          <p15:clr>
            <a:srgbClr val="A4A3A4"/>
          </p15:clr>
        </p15:guide>
        <p15:guide id="2" pos="7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j9YXKd6R5wIRxuxIw6cDR+gdUP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E9A2DA9-1FB9-47FE-87FA-51433F8E6F5B}">
  <a:tblStyle styleId="{5E9A2DA9-1FB9-47FE-87FA-51433F8E6F5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1FA"/>
          </a:solidFill>
        </a:fill>
      </a:tcStyle>
    </a:wholeTbl>
    <a:band1H>
      <a:tcTxStyle/>
      <a:tcStyle>
        <a:tcBdr/>
        <a:fill>
          <a:solidFill>
            <a:srgbClr val="CBE2F5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BE2F5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>
        <p:guide orient="horz" pos="2183"/>
        <p:guide pos="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36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35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" name="Google Shape;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 type="title">
  <p:cSld name="TITLE">
    <p:bg>
      <p:bgPr>
        <a:solidFill>
          <a:srgbClr val="192D3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334963" y="6356350"/>
            <a:ext cx="97775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1312718" y="6356350"/>
            <a:ext cx="89257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10390908" y="6356350"/>
            <a:ext cx="14661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FBAE40"/>
          </p15:clr>
        </p15:guide>
        <p15:guide id="2" pos="384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2260">
          <p15:clr>
            <a:srgbClr val="FBAE40"/>
          </p15:clr>
        </p15:guide>
        <p15:guide id="6" orient="horz" pos="397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Nur Titel">
  <p:cSld name="2_Nur Titel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title"/>
          </p:nvPr>
        </p:nvSpPr>
        <p:spPr>
          <a:xfrm>
            <a:off x="334963" y="549275"/>
            <a:ext cx="11522075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dt" idx="10"/>
          </p:nvPr>
        </p:nvSpPr>
        <p:spPr>
          <a:xfrm>
            <a:off x="334963" y="6356350"/>
            <a:ext cx="97775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ftr" idx="11"/>
          </p:nvPr>
        </p:nvSpPr>
        <p:spPr>
          <a:xfrm>
            <a:off x="1312718" y="6356350"/>
            <a:ext cx="89257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sldNum" idx="12"/>
          </p:nvPr>
        </p:nvSpPr>
        <p:spPr>
          <a:xfrm>
            <a:off x="10390908" y="6356350"/>
            <a:ext cx="14661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Nur Titel">
  <p:cSld name="3_Nur Titel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9" descr="Kostenlose foto : Natürliche nahrungsmittel, Frucht, lokales Essen ..."/>
          <p:cNvPicPr preferRelativeResize="0"/>
          <p:nvPr/>
        </p:nvPicPr>
        <p:blipFill rotWithShape="1">
          <a:blip r:embed="rId2">
            <a:alphaModFix/>
          </a:blip>
          <a:srcRect l="-151" r="50151"/>
          <a:stretch/>
        </p:blipFill>
        <p:spPr>
          <a:xfrm>
            <a:off x="7048500" y="0"/>
            <a:ext cx="5143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D3A">
              <a:alpha val="72941"/>
            </a:srgbClr>
          </a:solidFill>
          <a:ln w="12700" cap="flat" cmpd="sng">
            <a:solidFill>
              <a:srgbClr val="0B49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334964" y="549275"/>
            <a:ext cx="6441394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dt" idx="10"/>
          </p:nvPr>
        </p:nvSpPr>
        <p:spPr>
          <a:xfrm>
            <a:off x="334963" y="6356350"/>
            <a:ext cx="9777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ftr" idx="11"/>
          </p:nvPr>
        </p:nvSpPr>
        <p:spPr>
          <a:xfrm>
            <a:off x="1312719" y="6356350"/>
            <a:ext cx="54636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10390908" y="6356350"/>
            <a:ext cx="14661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33" name="Google Shape;33;p9"/>
          <p:cNvSpPr txBox="1"/>
          <p:nvPr/>
        </p:nvSpPr>
        <p:spPr>
          <a:xfrm>
            <a:off x="7048500" y="6538912"/>
            <a:ext cx="3046027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de-DE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https://c.pxhere.com/photos/b2/9e/CC0_Market_Resolutions-1607927.jpg!s1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>
  <p:cSld name="1_Titelfolie">
    <p:bg>
      <p:bgPr>
        <a:solidFill>
          <a:srgbClr val="192D3A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 txBox="1">
            <a:spLocks noGrp="1"/>
          </p:cNvSpPr>
          <p:nvPr>
            <p:ph type="ctrTitle"/>
          </p:nvPr>
        </p:nvSpPr>
        <p:spPr>
          <a:xfrm>
            <a:off x="3683659" y="2235200"/>
            <a:ext cx="6346166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7200"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dt" idx="10"/>
          </p:nvPr>
        </p:nvSpPr>
        <p:spPr>
          <a:xfrm>
            <a:off x="334963" y="6356350"/>
            <a:ext cx="97775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ftr" idx="11"/>
          </p:nvPr>
        </p:nvSpPr>
        <p:spPr>
          <a:xfrm>
            <a:off x="1312718" y="6356350"/>
            <a:ext cx="89257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sldNum" idx="12"/>
          </p:nvPr>
        </p:nvSpPr>
        <p:spPr>
          <a:xfrm>
            <a:off x="10390908" y="6356350"/>
            <a:ext cx="14661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body" idx="1"/>
          </p:nvPr>
        </p:nvSpPr>
        <p:spPr>
          <a:xfrm>
            <a:off x="1979762" y="2235200"/>
            <a:ext cx="1474638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13800">
                <a:solidFill>
                  <a:schemeClr val="accent6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FBAE40"/>
          </p15:clr>
        </p15:guide>
        <p15:guide id="2" pos="384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2260">
          <p15:clr>
            <a:srgbClr val="FBAE40"/>
          </p15:clr>
        </p15:guide>
        <p15:guide id="6" orient="horz" pos="397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Nur Titel">
  <p:cSld name="4_Nur Titel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1" descr="Kostenlose foto : Natürliche nahrungsmittel, Frucht, lokales Essen ..."/>
          <p:cNvPicPr preferRelativeResize="0"/>
          <p:nvPr/>
        </p:nvPicPr>
        <p:blipFill rotWithShape="1">
          <a:blip r:embed="rId2">
            <a:alphaModFix/>
          </a:blip>
          <a:srcRect l="-151" r="50151"/>
          <a:stretch/>
        </p:blipFill>
        <p:spPr>
          <a:xfrm>
            <a:off x="7048500" y="0"/>
            <a:ext cx="5143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D3A">
              <a:alpha val="72941"/>
            </a:srgbClr>
          </a:solidFill>
          <a:ln w="12700" cap="flat" cmpd="sng">
            <a:solidFill>
              <a:srgbClr val="0B49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1"/>
          <p:cNvSpPr txBox="1">
            <a:spLocks noGrp="1"/>
          </p:cNvSpPr>
          <p:nvPr>
            <p:ph type="title"/>
          </p:nvPr>
        </p:nvSpPr>
        <p:spPr>
          <a:xfrm>
            <a:off x="334964" y="549275"/>
            <a:ext cx="6441394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dt" idx="10"/>
          </p:nvPr>
        </p:nvSpPr>
        <p:spPr>
          <a:xfrm>
            <a:off x="334963" y="6356350"/>
            <a:ext cx="9777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ftr" idx="11"/>
          </p:nvPr>
        </p:nvSpPr>
        <p:spPr>
          <a:xfrm>
            <a:off x="1312719" y="6356350"/>
            <a:ext cx="54636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10390908" y="6356350"/>
            <a:ext cx="14661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53" name="Google Shape;53;p11"/>
          <p:cNvSpPr txBox="1"/>
          <p:nvPr/>
        </p:nvSpPr>
        <p:spPr>
          <a:xfrm>
            <a:off x="7048500" y="6538912"/>
            <a:ext cx="3046027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de-DE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https://c.pxhere.com/photos/b2/9e/CC0_Market_Resolutions-1607927.jpg!s1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34963" y="1289957"/>
            <a:ext cx="6441395" cy="4887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solidFill>
                  <a:schemeClr val="dk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D3A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334962" y="549275"/>
            <a:ext cx="11522075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334963" y="1289957"/>
            <a:ext cx="11522075" cy="4887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334963" y="6356350"/>
            <a:ext cx="9093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1312718" y="6356350"/>
            <a:ext cx="89257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10390908" y="6356350"/>
            <a:ext cx="14661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46">
          <p15:clr>
            <a:srgbClr val="F26B43"/>
          </p15:clr>
        </p15:guide>
        <p15:guide id="6" orient="horz" pos="397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de-DE"/>
              <a:t>Vorstellung der Projektskizze</a:t>
            </a:r>
            <a:endParaRPr/>
          </a:p>
        </p:txBody>
      </p:sp>
      <p:sp>
        <p:nvSpPr>
          <p:cNvPr id="76" name="Google Shape;76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de-DE"/>
              <a:t>22.04.2026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 txBox="1">
            <a:spLocks noGrp="1"/>
          </p:cNvSpPr>
          <p:nvPr>
            <p:ph type="title"/>
          </p:nvPr>
        </p:nvSpPr>
        <p:spPr>
          <a:xfrm>
            <a:off x="334963" y="549275"/>
            <a:ext cx="11522075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5"/>
              <a:buNone/>
            </a:pPr>
            <a:r>
              <a:rPr lang="de-DE"/>
              <a:t>Projektteam DataInsight GmbH</a:t>
            </a:r>
            <a:endParaRPr/>
          </a:p>
        </p:txBody>
      </p:sp>
      <p:sp>
        <p:nvSpPr>
          <p:cNvPr id="82" name="Google Shape;82;p2"/>
          <p:cNvSpPr txBox="1">
            <a:spLocks noGrp="1"/>
          </p:cNvSpPr>
          <p:nvPr>
            <p:ph type="dt" idx="10"/>
          </p:nvPr>
        </p:nvSpPr>
        <p:spPr>
          <a:xfrm>
            <a:off x="334963" y="6356350"/>
            <a:ext cx="97775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18.04.2026</a:t>
            </a:r>
            <a:endParaRPr/>
          </a:p>
        </p:txBody>
      </p:sp>
      <p:sp>
        <p:nvSpPr>
          <p:cNvPr id="83" name="Google Shape;83;p2"/>
          <p:cNvSpPr txBox="1">
            <a:spLocks noGrp="1"/>
          </p:cNvSpPr>
          <p:nvPr>
            <p:ph type="sldNum" idx="12"/>
          </p:nvPr>
        </p:nvSpPr>
        <p:spPr>
          <a:xfrm>
            <a:off x="10390908" y="6356350"/>
            <a:ext cx="14661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de-DE"/>
              <a:t>2</a:t>
            </a:fld>
            <a:endParaRPr/>
          </a:p>
        </p:txBody>
      </p:sp>
      <p:pic>
        <p:nvPicPr>
          <p:cNvPr id="84" name="Google Shape;84;p2" title="000_MGD-EXP-5P5-1_1745311099369.JPG"/>
          <p:cNvPicPr preferRelativeResize="0"/>
          <p:nvPr/>
        </p:nvPicPr>
        <p:blipFill rotWithShape="1">
          <a:blip r:embed="rId3">
            <a:alphaModFix/>
          </a:blip>
          <a:srcRect l="3571" r="3571"/>
          <a:stretch/>
        </p:blipFill>
        <p:spPr>
          <a:xfrm>
            <a:off x="6257354" y="2279092"/>
            <a:ext cx="1980000" cy="1980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85" name="Google Shape;85;p2"/>
          <p:cNvPicPr preferRelativeResize="0"/>
          <p:nvPr/>
        </p:nvPicPr>
        <p:blipFill rotWithShape="1">
          <a:blip r:embed="rId4">
            <a:alphaModFix/>
          </a:blip>
          <a:srcRect l="3447" r="3447"/>
          <a:stretch/>
        </p:blipFill>
        <p:spPr>
          <a:xfrm>
            <a:off x="8560061" y="2279092"/>
            <a:ext cx="1980000" cy="1980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86" name="Google Shape;86;p2"/>
          <p:cNvSpPr/>
          <p:nvPr/>
        </p:nvSpPr>
        <p:spPr>
          <a:xfrm>
            <a:off x="3954647" y="2279092"/>
            <a:ext cx="1980000" cy="19800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0B49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6257354" y="4643414"/>
            <a:ext cx="1980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Marius Schneider</a:t>
            </a: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8560061" y="4643414"/>
            <a:ext cx="1980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Ronja Thum</a:t>
            </a: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1651940" y="4643414"/>
            <a:ext cx="1980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Mamadou Diallo</a:t>
            </a:r>
            <a:endParaRPr/>
          </a:p>
        </p:txBody>
      </p:sp>
      <p:sp>
        <p:nvSpPr>
          <p:cNvPr id="90" name="Google Shape;90;p2"/>
          <p:cNvSpPr/>
          <p:nvPr/>
        </p:nvSpPr>
        <p:spPr>
          <a:xfrm>
            <a:off x="3954647" y="4643414"/>
            <a:ext cx="1980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 Luca Kröncke</a:t>
            </a:r>
            <a:endParaRPr/>
          </a:p>
        </p:txBody>
      </p:sp>
      <p:pic>
        <p:nvPicPr>
          <p:cNvPr id="91" name="Google Shape;91;p2" title="WhatsApp Image 2026-04-19 at 16.34.06.jpeg"/>
          <p:cNvPicPr preferRelativeResize="0"/>
          <p:nvPr/>
        </p:nvPicPr>
        <p:blipFill rotWithShape="1">
          <a:blip r:embed="rId5">
            <a:alphaModFix/>
          </a:blip>
          <a:srcRect l="7210" t="4320" r="8756" b="41685"/>
          <a:stretch/>
        </p:blipFill>
        <p:spPr>
          <a:xfrm>
            <a:off x="3954650" y="2279100"/>
            <a:ext cx="1980000" cy="20094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92" name="Google Shape;92;p2" title="presentation_photo.jpeg"/>
          <p:cNvPicPr preferRelativeResize="0"/>
          <p:nvPr/>
        </p:nvPicPr>
        <p:blipFill rotWithShape="1">
          <a:blip r:embed="rId6">
            <a:alphaModFix/>
          </a:blip>
          <a:srcRect l="12713" t="8145" r="17513" b="12854"/>
          <a:stretch/>
        </p:blipFill>
        <p:spPr>
          <a:xfrm>
            <a:off x="1493250" y="2379250"/>
            <a:ext cx="1980000" cy="2008800"/>
          </a:xfrm>
          <a:prstGeom prst="flowChartConnector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" name="Google Shape;97;p3"/>
          <p:cNvCxnSpPr/>
          <p:nvPr/>
        </p:nvCxnSpPr>
        <p:spPr>
          <a:xfrm>
            <a:off x="928586" y="1355273"/>
            <a:ext cx="0" cy="3960000"/>
          </a:xfrm>
          <a:prstGeom prst="straightConnector1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8" name="Google Shape;98;p3"/>
          <p:cNvSpPr txBox="1">
            <a:spLocks noGrp="1"/>
          </p:cNvSpPr>
          <p:nvPr>
            <p:ph type="title"/>
          </p:nvPr>
        </p:nvSpPr>
        <p:spPr>
          <a:xfrm>
            <a:off x="334964" y="549275"/>
            <a:ext cx="6441394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de-DE"/>
              <a:t>Agenda</a:t>
            </a:r>
            <a:endParaRPr/>
          </a:p>
        </p:txBody>
      </p:sp>
      <p:sp>
        <p:nvSpPr>
          <p:cNvPr id="99" name="Google Shape;99;p3"/>
          <p:cNvSpPr txBox="1"/>
          <p:nvPr/>
        </p:nvSpPr>
        <p:spPr>
          <a:xfrm>
            <a:off x="658586" y="1572796"/>
            <a:ext cx="540000" cy="577081"/>
          </a:xfrm>
          <a:prstGeom prst="rect">
            <a:avLst/>
          </a:prstGeom>
          <a:solidFill>
            <a:srgbClr val="192D3A"/>
          </a:solidFill>
          <a:ln>
            <a:noFill/>
          </a:ln>
        </p:spPr>
        <p:txBody>
          <a:bodyPr spcFirstLastPara="1" wrap="square" lIns="114300" tIns="57150" rIns="114300" bIns="5715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de-DE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658586" y="2313735"/>
            <a:ext cx="540000" cy="577081"/>
          </a:xfrm>
          <a:prstGeom prst="rect">
            <a:avLst/>
          </a:prstGeom>
          <a:solidFill>
            <a:srgbClr val="192D3A"/>
          </a:solidFill>
          <a:ln>
            <a:noFill/>
          </a:ln>
        </p:spPr>
        <p:txBody>
          <a:bodyPr spcFirstLastPara="1" wrap="square" lIns="114300" tIns="57150" rIns="114300" bIns="5715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de-DE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658586" y="3054674"/>
            <a:ext cx="540000" cy="577081"/>
          </a:xfrm>
          <a:prstGeom prst="rect">
            <a:avLst/>
          </a:prstGeom>
          <a:solidFill>
            <a:srgbClr val="192D3A"/>
          </a:solidFill>
          <a:ln>
            <a:noFill/>
          </a:ln>
        </p:spPr>
        <p:txBody>
          <a:bodyPr spcFirstLastPara="1" wrap="square" lIns="114300" tIns="57150" rIns="114300" bIns="5715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de-DE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658586" y="3795613"/>
            <a:ext cx="540000" cy="577081"/>
          </a:xfrm>
          <a:prstGeom prst="rect">
            <a:avLst/>
          </a:prstGeom>
          <a:solidFill>
            <a:srgbClr val="192D3A"/>
          </a:solidFill>
          <a:ln>
            <a:noFill/>
          </a:ln>
        </p:spPr>
        <p:txBody>
          <a:bodyPr spcFirstLastPara="1" wrap="square" lIns="114300" tIns="57150" rIns="114300" bIns="5715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de-DE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658586" y="4536552"/>
            <a:ext cx="540000" cy="577081"/>
          </a:xfrm>
          <a:prstGeom prst="rect">
            <a:avLst/>
          </a:prstGeom>
          <a:solidFill>
            <a:srgbClr val="192D3A"/>
          </a:solidFill>
          <a:ln>
            <a:noFill/>
          </a:ln>
        </p:spPr>
        <p:txBody>
          <a:bodyPr spcFirstLastPara="1" wrap="square" lIns="114300" tIns="57150" rIns="114300" bIns="5715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de-DE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1284513" y="1572796"/>
            <a:ext cx="4701267" cy="57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57150" rIns="114300" bIns="5715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de-DE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Projektüberblick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1284511" y="4499529"/>
            <a:ext cx="4701267" cy="57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57150" rIns="114300" bIns="5715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de-DE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Nächsten Schritte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1284513" y="2313735"/>
            <a:ext cx="4701267" cy="57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57150" rIns="114300" bIns="5715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Daten &amp; Domäne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1284512" y="3049572"/>
            <a:ext cx="4701267" cy="57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57150" rIns="114300" bIns="5715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de-DE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Projektplan &amp; Vorgehen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1205027" y="3787874"/>
            <a:ext cx="4701267" cy="57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57150" rIns="114300" bIns="5715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de-DE"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Risiken &amp; Offene Punkte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 txBox="1">
            <a:spLocks noGrp="1"/>
          </p:cNvSpPr>
          <p:nvPr>
            <p:ph type="dt" idx="10"/>
          </p:nvPr>
        </p:nvSpPr>
        <p:spPr>
          <a:xfrm>
            <a:off x="334963" y="6356350"/>
            <a:ext cx="9777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18.04.2026</a:t>
            </a:r>
            <a:endParaRPr/>
          </a:p>
        </p:txBody>
      </p:sp>
      <p:sp>
        <p:nvSpPr>
          <p:cNvPr id="110" name="Google Shape;110;p3"/>
          <p:cNvSpPr txBox="1">
            <a:spLocks noGrp="1"/>
          </p:cNvSpPr>
          <p:nvPr>
            <p:ph type="sldNum" idx="12"/>
          </p:nvPr>
        </p:nvSpPr>
        <p:spPr>
          <a:xfrm>
            <a:off x="10390908" y="6356350"/>
            <a:ext cx="14661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de-DE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 txBox="1">
            <a:spLocks noGrp="1"/>
          </p:cNvSpPr>
          <p:nvPr>
            <p:ph type="ctrTitle"/>
          </p:nvPr>
        </p:nvSpPr>
        <p:spPr>
          <a:xfrm>
            <a:off x="3683658" y="2235200"/>
            <a:ext cx="6707249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de-DE"/>
              <a:t>Daten &amp; Domäne</a:t>
            </a:r>
            <a:endParaRPr/>
          </a:p>
        </p:txBody>
      </p:sp>
      <p:sp>
        <p:nvSpPr>
          <p:cNvPr id="137" name="Google Shape;137;p5"/>
          <p:cNvSpPr txBox="1">
            <a:spLocks noGrp="1"/>
          </p:cNvSpPr>
          <p:nvPr>
            <p:ph type="body" idx="1"/>
          </p:nvPr>
        </p:nvSpPr>
        <p:spPr>
          <a:xfrm>
            <a:off x="1562100" y="2235200"/>
            <a:ext cx="18923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457200" lvl="0" indent="-4064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de-DE"/>
              <a:t>02</a:t>
            </a:r>
            <a:endParaRPr/>
          </a:p>
        </p:txBody>
      </p:sp>
      <p:sp>
        <p:nvSpPr>
          <p:cNvPr id="138" name="Google Shape;138;p5"/>
          <p:cNvSpPr txBox="1">
            <a:spLocks noGrp="1"/>
          </p:cNvSpPr>
          <p:nvPr>
            <p:ph type="dt" idx="10"/>
          </p:nvPr>
        </p:nvSpPr>
        <p:spPr>
          <a:xfrm>
            <a:off x="334963" y="6356350"/>
            <a:ext cx="97775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18.04.2026</a:t>
            </a:r>
            <a:endParaRPr/>
          </a:p>
        </p:txBody>
      </p:sp>
      <p:sp>
        <p:nvSpPr>
          <p:cNvPr id="139" name="Google Shape;139;p5"/>
          <p:cNvSpPr txBox="1">
            <a:spLocks noGrp="1"/>
          </p:cNvSpPr>
          <p:nvPr>
            <p:ph type="sldNum" idx="12"/>
          </p:nvPr>
        </p:nvSpPr>
        <p:spPr>
          <a:xfrm>
            <a:off x="10390908" y="6356350"/>
            <a:ext cx="14661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de-DE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"/>
          <p:cNvSpPr txBox="1">
            <a:spLocks noGrp="1"/>
          </p:cNvSpPr>
          <p:nvPr>
            <p:ph type="title"/>
          </p:nvPr>
        </p:nvSpPr>
        <p:spPr>
          <a:xfrm>
            <a:off x="334963" y="549275"/>
            <a:ext cx="6441394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5"/>
              <a:buNone/>
            </a:pPr>
            <a:r>
              <a:rPr lang="de-DE"/>
              <a:t>Domäne: FrischeMarkt GmbH</a:t>
            </a:r>
            <a:endParaRPr/>
          </a:p>
        </p:txBody>
      </p:sp>
      <p:sp>
        <p:nvSpPr>
          <p:cNvPr id="145" name="Google Shape;145;p14"/>
          <p:cNvSpPr txBox="1">
            <a:spLocks noGrp="1"/>
          </p:cNvSpPr>
          <p:nvPr>
            <p:ph type="dt" idx="10"/>
          </p:nvPr>
        </p:nvSpPr>
        <p:spPr>
          <a:xfrm>
            <a:off x="334963" y="6356350"/>
            <a:ext cx="9777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18.04.2026</a:t>
            </a:r>
            <a:endParaRPr/>
          </a:p>
        </p:txBody>
      </p:sp>
      <p:sp>
        <p:nvSpPr>
          <p:cNvPr id="146" name="Google Shape;146;p14"/>
          <p:cNvSpPr txBox="1">
            <a:spLocks noGrp="1"/>
          </p:cNvSpPr>
          <p:nvPr>
            <p:ph type="sldNum" idx="12"/>
          </p:nvPr>
        </p:nvSpPr>
        <p:spPr>
          <a:xfrm>
            <a:off x="10390908" y="6356350"/>
            <a:ext cx="14661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de-DE"/>
              <a:t>5</a:t>
            </a:fld>
            <a:endParaRPr/>
          </a:p>
        </p:txBody>
      </p:sp>
      <p:sp>
        <p:nvSpPr>
          <p:cNvPr id="147" name="Google Shape;147;p14"/>
          <p:cNvSpPr/>
          <p:nvPr/>
        </p:nvSpPr>
        <p:spPr>
          <a:xfrm>
            <a:off x="675142" y="1337667"/>
            <a:ext cx="5761037" cy="2091333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800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Rahmenbedingungen</a:t>
            </a:r>
            <a:endParaRPr/>
          </a:p>
          <a:p>
            <a:pPr marL="360000" marR="0" lvl="2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de-DE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Deutschlandweit: 50 Filialen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0000" marR="0" lvl="2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de-DE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Einsatz der SB-Kassensysteme seit Q1-2022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0000" marR="0" lvl="2" indent="-285750" algn="l" rtl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de-DE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Nutzung im laufenden Filialbetrieb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4"/>
          <p:cNvSpPr/>
          <p:nvPr/>
        </p:nvSpPr>
        <p:spPr>
          <a:xfrm>
            <a:off x="675142" y="3752976"/>
            <a:ext cx="5761037" cy="2091333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80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Offene Fragen</a:t>
            </a:r>
            <a:endParaRPr/>
          </a:p>
          <a:p>
            <a:pPr marL="36000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de-DE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Wie werden Kontrollen aktuell ausgelöst und durchgeführt?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000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de-DE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Welche Indikatoren sprechen aus Fachsicht für fehlerhafte Scanvorgänge? 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>
            <a:spLocks noGrp="1"/>
          </p:cNvSpPr>
          <p:nvPr>
            <p:ph type="title"/>
          </p:nvPr>
        </p:nvSpPr>
        <p:spPr>
          <a:xfrm>
            <a:off x="334963" y="549275"/>
            <a:ext cx="11522075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5"/>
              <a:buNone/>
            </a:pPr>
            <a:r>
              <a:rPr lang="de-DE"/>
              <a:t>Zentrale</a:t>
            </a:r>
            <a:r>
              <a:rPr lang="de-DE" b="1"/>
              <a:t> </a:t>
            </a:r>
            <a:r>
              <a:rPr lang="de-DE"/>
              <a:t>offene Punkte im Datenverständnis</a:t>
            </a:r>
            <a:endParaRPr/>
          </a:p>
        </p:txBody>
      </p:sp>
      <p:sp>
        <p:nvSpPr>
          <p:cNvPr id="154" name="Google Shape;154;p16"/>
          <p:cNvSpPr txBox="1">
            <a:spLocks noGrp="1"/>
          </p:cNvSpPr>
          <p:nvPr>
            <p:ph type="dt" idx="10"/>
          </p:nvPr>
        </p:nvSpPr>
        <p:spPr>
          <a:xfrm>
            <a:off x="334963" y="6356350"/>
            <a:ext cx="97775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18.04.2026</a:t>
            </a:r>
            <a:endParaRPr/>
          </a:p>
        </p:txBody>
      </p:sp>
      <p:sp>
        <p:nvSpPr>
          <p:cNvPr id="155" name="Google Shape;155;p16"/>
          <p:cNvSpPr txBox="1">
            <a:spLocks noGrp="1"/>
          </p:cNvSpPr>
          <p:nvPr>
            <p:ph type="sldNum" idx="12"/>
          </p:nvPr>
        </p:nvSpPr>
        <p:spPr>
          <a:xfrm>
            <a:off x="10390908" y="6356350"/>
            <a:ext cx="14661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de-DE"/>
              <a:t>6</a:t>
            </a:fld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660568" y="1351316"/>
            <a:ext cx="10870864" cy="720000"/>
          </a:xfrm>
          <a:prstGeom prst="rect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800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Urbanisierung: Klassifikation Stadt-/Landgrad (Ebene: Store)</a:t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660568" y="2278204"/>
            <a:ext cx="10870864" cy="1593281"/>
          </a:xfrm>
          <a:prstGeom prst="rect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80000" marR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Label: Stichprobenergebnisse (Ebene: Transaktion)</a:t>
            </a:r>
            <a:endParaRPr/>
          </a:p>
          <a:p>
            <a:pPr marL="522900" marR="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de-DE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= Kontrolliert: Kein Fehl-Scan (9,57%)</a:t>
            </a:r>
            <a:endParaRPr/>
          </a:p>
          <a:p>
            <a:pPr marL="522900" marR="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de-DE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= Kontrolliert: Fehl-Scan (0,41%)</a:t>
            </a:r>
            <a:endParaRPr/>
          </a:p>
          <a:p>
            <a:pPr marL="522900" marR="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de-DE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 = Nicht Kontrolliert (90,02%)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660568" y="4078373"/>
            <a:ext cx="10870864" cy="1238440"/>
          </a:xfrm>
          <a:prstGeom prst="rect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80000" marR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de-DE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Kamera-Daten: Produktvergleich (Ebene: Transaktions-Zeile)</a:t>
            </a:r>
            <a:endParaRPr/>
          </a:p>
          <a:p>
            <a:pPr marL="522900" marR="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de-DE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camera_product_similar: Ähnlichkeit zwischen gescanntem Produkt und tatsächlichem Produkt</a:t>
            </a:r>
            <a:endParaRPr/>
          </a:p>
          <a:p>
            <a:pPr marL="522900" marR="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de-DE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camera_certainty = Verlässlichkeit der Einschätzung</a:t>
            </a: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660568" y="5523700"/>
            <a:ext cx="10870864" cy="720000"/>
          </a:xfrm>
          <a:prstGeom prst="rect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800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Popularity: Beliebtheits-Score beispielsweise meist gekaufte Produkte (Ebene: Produkt)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"/>
          <p:cNvSpPr txBox="1">
            <a:spLocks noGrp="1"/>
          </p:cNvSpPr>
          <p:nvPr>
            <p:ph type="title"/>
          </p:nvPr>
        </p:nvSpPr>
        <p:spPr>
          <a:xfrm>
            <a:off x="334963" y="549275"/>
            <a:ext cx="11522075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5"/>
              <a:buNone/>
            </a:pPr>
            <a:r>
              <a:rPr lang="de-DE"/>
              <a:t>Datenbasis im Überblick</a:t>
            </a:r>
            <a:endParaRPr/>
          </a:p>
        </p:txBody>
      </p:sp>
      <p:graphicFrame>
        <p:nvGraphicFramePr>
          <p:cNvPr id="165" name="Google Shape;165;p15"/>
          <p:cNvGraphicFramePr/>
          <p:nvPr/>
        </p:nvGraphicFramePr>
        <p:xfrm>
          <a:off x="1615773" y="2026430"/>
          <a:ext cx="1420100" cy="2016000"/>
        </p:xfrm>
        <a:graphic>
          <a:graphicData uri="http://schemas.openxmlformats.org/drawingml/2006/table">
            <a:tbl>
              <a:tblPr firstRow="1" bandRow="1">
                <a:noFill/>
                <a:tableStyleId>{5E9A2DA9-1FB9-47FE-87FA-51433F8E6F5B}</a:tableStyleId>
              </a:tblPr>
              <a:tblGrid>
                <a:gridCol w="142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lt1"/>
                          </a:solidFill>
                        </a:rPr>
                        <a:t>stores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b="1" u="none" strike="noStrike" cap="none">
                          <a:solidFill>
                            <a:srgbClr val="323A3E"/>
                          </a:solidFill>
                        </a:rPr>
                        <a:t>id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lt1"/>
                          </a:solidFill>
                        </a:rPr>
                        <a:t>opening_date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lt1"/>
                          </a:solidFill>
                        </a:rPr>
                        <a:t>location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lt1"/>
                          </a:solidFill>
                        </a:rPr>
                        <a:t>state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dk1"/>
                          </a:solidFill>
                        </a:rPr>
                        <a:t>urbanization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lt1"/>
                          </a:solidFill>
                        </a:rPr>
                        <a:t>sco_introduction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66" name="Google Shape;166;p15"/>
          <p:cNvGraphicFramePr/>
          <p:nvPr/>
        </p:nvGraphicFramePr>
        <p:xfrm>
          <a:off x="3771112" y="2026430"/>
          <a:ext cx="1797225" cy="3456000"/>
        </p:xfrm>
        <a:graphic>
          <a:graphicData uri="http://schemas.openxmlformats.org/drawingml/2006/table">
            <a:tbl>
              <a:tblPr firstRow="1" bandRow="1">
                <a:noFill/>
                <a:tableStyleId>{5E9A2DA9-1FB9-47FE-87FA-51433F8E6F5B}</a:tableStyleId>
              </a:tblPr>
              <a:tblGrid>
                <a:gridCol w="179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lt1"/>
                          </a:solidFill>
                        </a:rPr>
                        <a:t>transactions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lt1"/>
                          </a:solidFill>
                        </a:rPr>
                        <a:t>id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b="1" u="none" strike="noStrike" cap="none">
                          <a:solidFill>
                            <a:schemeClr val="lt1"/>
                          </a:solidFill>
                        </a:rPr>
                        <a:t>store_id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lt1"/>
                          </a:solidFill>
                        </a:rPr>
                        <a:t>cash_desk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lt1"/>
                          </a:solidFill>
                        </a:rPr>
                        <a:t>transaction_start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lt1"/>
                          </a:solidFill>
                        </a:rPr>
                        <a:t>transaction_end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lt1"/>
                          </a:solidFill>
                        </a:rPr>
                        <a:t>total_amount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lt1"/>
                          </a:solidFill>
                        </a:rPr>
                        <a:t>n_lines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lt1"/>
                          </a:solidFill>
                        </a:rPr>
                        <a:t>payment_method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lt1"/>
                          </a:solidFill>
                        </a:rPr>
                        <a:t>feedback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lt1"/>
                          </a:solidFill>
                        </a:rPr>
                        <a:t>damage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dk1"/>
                          </a:solidFill>
                        </a:rPr>
                        <a:t>label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67" name="Google Shape;167;p15"/>
          <p:cNvGraphicFramePr/>
          <p:nvPr/>
        </p:nvGraphicFramePr>
        <p:xfrm>
          <a:off x="6303585" y="2026430"/>
          <a:ext cx="1984300" cy="2866330"/>
        </p:xfrm>
        <a:graphic>
          <a:graphicData uri="http://schemas.openxmlformats.org/drawingml/2006/table">
            <a:tbl>
              <a:tblPr firstRow="1" bandRow="1">
                <a:noFill/>
                <a:tableStyleId>{5E9A2DA9-1FB9-47FE-87FA-51433F8E6F5B}</a:tableStyleId>
              </a:tblPr>
              <a:tblGrid>
                <a:gridCol w="19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lt1"/>
                          </a:solidFill>
                        </a:rPr>
                        <a:t>transactions_lines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lt1"/>
                          </a:solidFill>
                        </a:rPr>
                        <a:t>id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b="1" u="none" strike="noStrike" cap="none">
                          <a:solidFill>
                            <a:schemeClr val="lt1"/>
                          </a:solidFill>
                        </a:rPr>
                        <a:t>transaction_id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lt1"/>
                          </a:solidFill>
                        </a:rPr>
                        <a:t>product_id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lt1"/>
                          </a:solidFill>
                        </a:rPr>
                        <a:t>timestamp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lt1"/>
                          </a:solidFill>
                        </a:rPr>
                        <a:t>pieces_or_weight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lt1"/>
                          </a:solidFill>
                        </a:rPr>
                        <a:t>sales_price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lt1"/>
                          </a:solidFill>
                        </a:rPr>
                        <a:t>was_voided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dk1"/>
                          </a:solidFill>
                        </a:rPr>
                        <a:t>camera_product_similar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dk1"/>
                          </a:solidFill>
                        </a:rPr>
                        <a:t>camera_certainty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68" name="Google Shape;168;p15"/>
          <p:cNvGraphicFramePr/>
          <p:nvPr/>
        </p:nvGraphicFramePr>
        <p:xfrm>
          <a:off x="9023123" y="2026430"/>
          <a:ext cx="1380000" cy="3744000"/>
        </p:xfrm>
        <a:graphic>
          <a:graphicData uri="http://schemas.openxmlformats.org/drawingml/2006/table">
            <a:tbl>
              <a:tblPr firstRow="1" bandRow="1">
                <a:noFill/>
                <a:tableStyleId>{5E9A2DA9-1FB9-47FE-87FA-51433F8E6F5B}</a:tableStyleId>
              </a:tblPr>
              <a:tblGrid>
                <a:gridCol w="13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lt1"/>
                          </a:solidFill>
                        </a:rPr>
                        <a:t>products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b="1" u="none" strike="noStrike" cap="none">
                          <a:solidFill>
                            <a:schemeClr val="lt1"/>
                          </a:solidFill>
                        </a:rPr>
                        <a:t>id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lt1"/>
                          </a:solidFill>
                        </a:rPr>
                        <a:t>base_product_id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lt1"/>
                          </a:solidFill>
                        </a:rPr>
                        <a:t>category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lt1"/>
                          </a:solidFill>
                        </a:rPr>
                        <a:t>name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lt1"/>
                          </a:solidFill>
                        </a:rPr>
                        <a:t>price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dk1"/>
                          </a:solidFill>
                        </a:rPr>
                        <a:t>popularity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lt1"/>
                          </a:solidFill>
                        </a:rPr>
                        <a:t>valid_from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lt1"/>
                          </a:solidFill>
                        </a:rPr>
                        <a:t>valid_to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lt1"/>
                          </a:solidFill>
                        </a:rPr>
                        <a:t>sold_by_weight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lt1"/>
                          </a:solidFill>
                        </a:rPr>
                        <a:t>weight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lt1"/>
                          </a:solidFill>
                        </a:rPr>
                        <a:t>age_restricted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u="none" strike="noStrike" cap="none">
                          <a:solidFill>
                            <a:schemeClr val="lt1"/>
                          </a:solidFill>
                        </a:rPr>
                        <a:t>is_scannable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cxnSp>
        <p:nvCxnSpPr>
          <p:cNvPr id="169" name="Google Shape;169;p15"/>
          <p:cNvCxnSpPr/>
          <p:nvPr/>
        </p:nvCxnSpPr>
        <p:spPr>
          <a:xfrm>
            <a:off x="2995774" y="2460648"/>
            <a:ext cx="775200" cy="3150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70" name="Google Shape;170;p15"/>
          <p:cNvCxnSpPr/>
          <p:nvPr/>
        </p:nvCxnSpPr>
        <p:spPr>
          <a:xfrm flipH="1">
            <a:off x="5568450" y="2749266"/>
            <a:ext cx="790800" cy="264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71" name="Google Shape;171;p15"/>
          <p:cNvCxnSpPr/>
          <p:nvPr/>
        </p:nvCxnSpPr>
        <p:spPr>
          <a:xfrm flipH="1">
            <a:off x="8287828" y="2477896"/>
            <a:ext cx="735300" cy="214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2" name="Google Shape;172;p15"/>
          <p:cNvSpPr txBox="1"/>
          <p:nvPr/>
        </p:nvSpPr>
        <p:spPr>
          <a:xfrm>
            <a:off x="3121974" y="2252302"/>
            <a:ext cx="26321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73" name="Google Shape;173;p15"/>
          <p:cNvSpPr txBox="1"/>
          <p:nvPr/>
        </p:nvSpPr>
        <p:spPr>
          <a:xfrm>
            <a:off x="3487205" y="2487280"/>
            <a:ext cx="26321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5"/>
          <p:cNvSpPr txBox="1"/>
          <p:nvPr/>
        </p:nvSpPr>
        <p:spPr>
          <a:xfrm>
            <a:off x="5582675" y="2517113"/>
            <a:ext cx="23552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75" name="Google Shape;175;p15"/>
          <p:cNvSpPr txBox="1"/>
          <p:nvPr/>
        </p:nvSpPr>
        <p:spPr>
          <a:xfrm>
            <a:off x="6090335" y="2454240"/>
            <a:ext cx="26321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8718523" y="2244140"/>
            <a:ext cx="26321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77" name="Google Shape;177;p15"/>
          <p:cNvSpPr txBox="1"/>
          <p:nvPr/>
        </p:nvSpPr>
        <p:spPr>
          <a:xfrm>
            <a:off x="8260681" y="2477896"/>
            <a:ext cx="26321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78" name="Google Shape;178;p15"/>
          <p:cNvSpPr txBox="1">
            <a:spLocks noGrp="1"/>
          </p:cNvSpPr>
          <p:nvPr>
            <p:ph type="dt" idx="10"/>
          </p:nvPr>
        </p:nvSpPr>
        <p:spPr>
          <a:xfrm>
            <a:off x="334963" y="6356350"/>
            <a:ext cx="97775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18.04.2026</a:t>
            </a:r>
            <a:endParaRPr/>
          </a:p>
        </p:txBody>
      </p:sp>
      <p:sp>
        <p:nvSpPr>
          <p:cNvPr id="179" name="Google Shape;179;p15"/>
          <p:cNvSpPr txBox="1">
            <a:spLocks noGrp="1"/>
          </p:cNvSpPr>
          <p:nvPr>
            <p:ph type="sldNum" idx="12"/>
          </p:nvPr>
        </p:nvSpPr>
        <p:spPr>
          <a:xfrm>
            <a:off x="10390908" y="6356350"/>
            <a:ext cx="14661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de-DE"/>
              <a:t>7</a:t>
            </a:fld>
            <a:endParaRPr/>
          </a:p>
        </p:txBody>
      </p:sp>
      <p:sp>
        <p:nvSpPr>
          <p:cNvPr id="180" name="Google Shape;180;p15"/>
          <p:cNvSpPr/>
          <p:nvPr/>
        </p:nvSpPr>
        <p:spPr>
          <a:xfrm>
            <a:off x="1448666" y="1279195"/>
            <a:ext cx="4194048" cy="560832"/>
          </a:xfrm>
          <a:prstGeom prst="wedgeRoundRectCallout">
            <a:avLst>
              <a:gd name="adj1" fmla="val -20833"/>
              <a:gd name="adj2" fmla="val 62500"/>
              <a:gd name="adj3" fmla="val 0"/>
            </a:avLst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Deutschlandweit 50 Filialen;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Transaktionsdaten von 10 Standorten</a:t>
            </a:r>
            <a:endParaRPr/>
          </a:p>
        </p:txBody>
      </p:sp>
      <p:sp>
        <p:nvSpPr>
          <p:cNvPr id="181" name="Google Shape;181;p15"/>
          <p:cNvSpPr/>
          <p:nvPr/>
        </p:nvSpPr>
        <p:spPr>
          <a:xfrm>
            <a:off x="4256525" y="5879452"/>
            <a:ext cx="4194048" cy="560832"/>
          </a:xfrm>
          <a:prstGeom prst="wedgeRoundRectCallout">
            <a:avLst>
              <a:gd name="adj1" fmla="val -22286"/>
              <a:gd name="adj2" fmla="val -65761"/>
              <a:gd name="adj3" fmla="val 16667"/>
            </a:avLst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Circa 1,86 Mio Transaktionsdaten </a:t>
            </a:r>
            <a:b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mit 20 Mio Einzelpositionen</a:t>
            </a:r>
            <a:endParaRPr/>
          </a:p>
        </p:txBody>
      </p:sp>
      <p:sp>
        <p:nvSpPr>
          <p:cNvPr id="182" name="Google Shape;182;p15"/>
          <p:cNvSpPr/>
          <p:nvPr/>
        </p:nvSpPr>
        <p:spPr>
          <a:xfrm>
            <a:off x="8032614" y="1226061"/>
            <a:ext cx="2795024" cy="560832"/>
          </a:xfrm>
          <a:prstGeom prst="wedgeRoundRectCallout">
            <a:avLst>
              <a:gd name="adj1" fmla="val 25970"/>
              <a:gd name="adj2" fmla="val 73369"/>
              <a:gd name="adj3" fmla="val 16667"/>
            </a:avLst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24.000 Produkte</a:t>
            </a:r>
            <a:b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14 Kategorien</a:t>
            </a:r>
            <a:endParaRPr/>
          </a:p>
        </p:txBody>
      </p:sp>
      <p:graphicFrame>
        <p:nvGraphicFramePr>
          <p:cNvPr id="183" name="Google Shape;183;p15"/>
          <p:cNvGraphicFramePr/>
          <p:nvPr/>
        </p:nvGraphicFramePr>
        <p:xfrm>
          <a:off x="545047" y="5851561"/>
          <a:ext cx="2141450" cy="288000"/>
        </p:xfrm>
        <a:graphic>
          <a:graphicData uri="http://schemas.openxmlformats.org/drawingml/2006/table">
            <a:tbl>
              <a:tblPr firstRow="1" bandRow="1">
                <a:noFill/>
                <a:tableStyleId>{5E9A2DA9-1FB9-47FE-87FA-51433F8E6F5B}</a:tableStyleId>
              </a:tblPr>
              <a:tblGrid>
                <a:gridCol w="214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b="0" u="none" strike="noStrike" cap="none">
                          <a:solidFill>
                            <a:schemeClr val="dk1"/>
                          </a:solidFill>
                        </a:rPr>
                        <a:t>Fachlich nicht eindeutig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 txBox="1">
            <a:spLocks noGrp="1"/>
          </p:cNvSpPr>
          <p:nvPr>
            <p:ph type="title"/>
          </p:nvPr>
        </p:nvSpPr>
        <p:spPr>
          <a:xfrm>
            <a:off x="334963" y="549275"/>
            <a:ext cx="11522075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5"/>
              <a:buNone/>
            </a:pPr>
            <a:r>
              <a:rPr lang="de-DE"/>
              <a:t>Vorläufige Einschätzung möglicher Features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 rot="-5400000">
            <a:off x="169319" y="3637709"/>
            <a:ext cx="712073" cy="307777"/>
          </a:xfrm>
          <a:prstGeom prst="rect">
            <a:avLst/>
          </a:prstGeom>
          <a:solidFill>
            <a:srgbClr val="192D3A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mittel</a:t>
            </a:r>
            <a:endParaRPr/>
          </a:p>
        </p:txBody>
      </p:sp>
      <p:sp>
        <p:nvSpPr>
          <p:cNvPr id="190" name="Google Shape;190;p17"/>
          <p:cNvSpPr/>
          <p:nvPr/>
        </p:nvSpPr>
        <p:spPr>
          <a:xfrm>
            <a:off x="921607" y="3604311"/>
            <a:ext cx="2476800" cy="504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Transaktionsdauer</a:t>
            </a:r>
            <a:endParaRPr/>
          </a:p>
        </p:txBody>
      </p:sp>
      <p:sp>
        <p:nvSpPr>
          <p:cNvPr id="191" name="Google Shape;191;p17"/>
          <p:cNvSpPr/>
          <p:nvPr/>
        </p:nvSpPr>
        <p:spPr>
          <a:xfrm>
            <a:off x="6555213" y="3604311"/>
            <a:ext cx="2476800" cy="504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Zahlungsweise</a:t>
            </a:r>
            <a:endParaRPr/>
          </a:p>
        </p:txBody>
      </p:sp>
      <p:sp>
        <p:nvSpPr>
          <p:cNvPr id="192" name="Google Shape;192;p17"/>
          <p:cNvSpPr/>
          <p:nvPr/>
        </p:nvSpPr>
        <p:spPr>
          <a:xfrm>
            <a:off x="3738410" y="3604311"/>
            <a:ext cx="2476800" cy="504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Stornierungen</a:t>
            </a:r>
            <a:endParaRPr/>
          </a:p>
        </p:txBody>
      </p:sp>
      <p:sp>
        <p:nvSpPr>
          <p:cNvPr id="193" name="Google Shape;193;p17"/>
          <p:cNvSpPr/>
          <p:nvPr/>
        </p:nvSpPr>
        <p:spPr>
          <a:xfrm>
            <a:off x="9372016" y="3907542"/>
            <a:ext cx="2476800" cy="504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Kamera Daten(Video)</a:t>
            </a:r>
            <a:endParaRPr/>
          </a:p>
        </p:txBody>
      </p:sp>
      <p:sp>
        <p:nvSpPr>
          <p:cNvPr id="194" name="Google Shape;194;p17"/>
          <p:cNvSpPr/>
          <p:nvPr/>
        </p:nvSpPr>
        <p:spPr>
          <a:xfrm>
            <a:off x="9372016" y="3288722"/>
            <a:ext cx="2476800" cy="504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Kamera Auswertung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 rot="-5400000">
            <a:off x="236934" y="2070327"/>
            <a:ext cx="576842" cy="307777"/>
          </a:xfrm>
          <a:prstGeom prst="rect">
            <a:avLst/>
          </a:prstGeom>
          <a:solidFill>
            <a:srgbClr val="192D3A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hoch</a:t>
            </a:r>
            <a:endParaRPr/>
          </a:p>
        </p:txBody>
      </p:sp>
      <p:sp>
        <p:nvSpPr>
          <p:cNvPr id="196" name="Google Shape;196;p17"/>
          <p:cNvSpPr/>
          <p:nvPr/>
        </p:nvSpPr>
        <p:spPr>
          <a:xfrm>
            <a:off x="923407" y="2036929"/>
            <a:ext cx="2473496" cy="5040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Anzahl Artikel </a:t>
            </a:r>
            <a:endParaRPr/>
          </a:p>
        </p:txBody>
      </p:sp>
      <p:sp>
        <p:nvSpPr>
          <p:cNvPr id="197" name="Google Shape;197;p17"/>
          <p:cNvSpPr/>
          <p:nvPr/>
        </p:nvSpPr>
        <p:spPr>
          <a:xfrm>
            <a:off x="3740810" y="2036929"/>
            <a:ext cx="2473496" cy="5040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Produktkategorie</a:t>
            </a:r>
            <a:endParaRPr/>
          </a:p>
        </p:txBody>
      </p:sp>
      <p:sp>
        <p:nvSpPr>
          <p:cNvPr id="198" name="Google Shape;198;p17"/>
          <p:cNvSpPr/>
          <p:nvPr/>
        </p:nvSpPr>
        <p:spPr>
          <a:xfrm>
            <a:off x="6558213" y="2036929"/>
            <a:ext cx="2473496" cy="5040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Scan-Bar</a:t>
            </a:r>
            <a:endParaRPr/>
          </a:p>
        </p:txBody>
      </p:sp>
      <p:sp>
        <p:nvSpPr>
          <p:cNvPr id="199" name="Google Shape;199;p17"/>
          <p:cNvSpPr/>
          <p:nvPr/>
        </p:nvSpPr>
        <p:spPr>
          <a:xfrm>
            <a:off x="9375616" y="2036929"/>
            <a:ext cx="2473496" cy="5040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Standort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 rot="-5400000">
            <a:off x="89121" y="5279055"/>
            <a:ext cx="872468" cy="307777"/>
          </a:xfrm>
          <a:prstGeom prst="rect">
            <a:avLst/>
          </a:prstGeom>
          <a:solidFill>
            <a:srgbClr val="192D3A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niedrig</a:t>
            </a:r>
            <a:endParaRPr/>
          </a:p>
        </p:txBody>
      </p:sp>
      <p:sp>
        <p:nvSpPr>
          <p:cNvPr id="201" name="Google Shape;201;p17"/>
          <p:cNvSpPr/>
          <p:nvPr/>
        </p:nvSpPr>
        <p:spPr>
          <a:xfrm>
            <a:off x="921607" y="5245657"/>
            <a:ext cx="2088000" cy="504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Tageszeitpunkt</a:t>
            </a:r>
            <a:endParaRPr/>
          </a:p>
        </p:txBody>
      </p:sp>
      <p:sp>
        <p:nvSpPr>
          <p:cNvPr id="202" name="Google Shape;202;p17"/>
          <p:cNvSpPr/>
          <p:nvPr/>
        </p:nvSpPr>
        <p:spPr>
          <a:xfrm>
            <a:off x="5341211" y="5245657"/>
            <a:ext cx="2088000" cy="504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Mindesthaltbarkeit</a:t>
            </a:r>
            <a:endParaRPr/>
          </a:p>
        </p:txBody>
      </p:sp>
      <p:sp>
        <p:nvSpPr>
          <p:cNvPr id="203" name="Google Shape;203;p17"/>
          <p:cNvSpPr/>
          <p:nvPr/>
        </p:nvSpPr>
        <p:spPr>
          <a:xfrm>
            <a:off x="7551013" y="5245657"/>
            <a:ext cx="2088000" cy="504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Beschädigt</a:t>
            </a:r>
            <a:endParaRPr/>
          </a:p>
        </p:txBody>
      </p:sp>
      <p:sp>
        <p:nvSpPr>
          <p:cNvPr id="204" name="Google Shape;204;p17"/>
          <p:cNvSpPr/>
          <p:nvPr/>
        </p:nvSpPr>
        <p:spPr>
          <a:xfrm>
            <a:off x="3131409" y="5245657"/>
            <a:ext cx="2088000" cy="504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Kassenschalter</a:t>
            </a:r>
            <a:endParaRPr/>
          </a:p>
        </p:txBody>
      </p:sp>
      <p:sp>
        <p:nvSpPr>
          <p:cNvPr id="205" name="Google Shape;205;p17"/>
          <p:cNvSpPr/>
          <p:nvPr/>
        </p:nvSpPr>
        <p:spPr>
          <a:xfrm>
            <a:off x="9760816" y="5245657"/>
            <a:ext cx="2088000" cy="504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Beliebtheit</a:t>
            </a:r>
            <a:endParaRPr/>
          </a:p>
        </p:txBody>
      </p:sp>
      <p:cxnSp>
        <p:nvCxnSpPr>
          <p:cNvPr id="206" name="Google Shape;206;p17"/>
          <p:cNvCxnSpPr/>
          <p:nvPr/>
        </p:nvCxnSpPr>
        <p:spPr>
          <a:xfrm rot="10800000">
            <a:off x="739454" y="1381304"/>
            <a:ext cx="1321" cy="4975046"/>
          </a:xfrm>
          <a:prstGeom prst="straightConnector1">
            <a:avLst/>
          </a:prstGeom>
          <a:noFill/>
          <a:ln w="9525" cap="flat" cmpd="sng">
            <a:solidFill>
              <a:srgbClr val="F7F9F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7" name="Google Shape;207;p17"/>
          <p:cNvCxnSpPr/>
          <p:nvPr/>
        </p:nvCxnSpPr>
        <p:spPr>
          <a:xfrm>
            <a:off x="739454" y="2869809"/>
            <a:ext cx="1111758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08" name="Google Shape;208;p17"/>
          <p:cNvCxnSpPr/>
          <p:nvPr/>
        </p:nvCxnSpPr>
        <p:spPr>
          <a:xfrm>
            <a:off x="739454" y="4752535"/>
            <a:ext cx="1111758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09" name="Google Shape;209;p17"/>
          <p:cNvSpPr txBox="1">
            <a:spLocks noGrp="1"/>
          </p:cNvSpPr>
          <p:nvPr>
            <p:ph type="dt" idx="10"/>
          </p:nvPr>
        </p:nvSpPr>
        <p:spPr>
          <a:xfrm>
            <a:off x="334963" y="6356350"/>
            <a:ext cx="97775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18.04.2026</a:t>
            </a:r>
            <a:endParaRPr/>
          </a:p>
        </p:txBody>
      </p:sp>
      <p:sp>
        <p:nvSpPr>
          <p:cNvPr id="210" name="Google Shape;210;p17"/>
          <p:cNvSpPr txBox="1">
            <a:spLocks noGrp="1"/>
          </p:cNvSpPr>
          <p:nvPr>
            <p:ph type="sldNum" idx="12"/>
          </p:nvPr>
        </p:nvSpPr>
        <p:spPr>
          <a:xfrm>
            <a:off x="10390908" y="6356350"/>
            <a:ext cx="14661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de-DE"/>
              <a:t>8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Benutzerdefiniert 1">
      <a:dk1>
        <a:srgbClr val="FEFFFF"/>
      </a:dk1>
      <a:lt1>
        <a:srgbClr val="000000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</Words>
  <Application>Microsoft Office PowerPoint</Application>
  <PresentationFormat>Breitbild</PresentationFormat>
  <Paragraphs>124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2013 – 2022-Design</vt:lpstr>
      <vt:lpstr>Vorstellung der Projektskizze</vt:lpstr>
      <vt:lpstr>Projektteam DataInsight GmbH</vt:lpstr>
      <vt:lpstr>Agenda</vt:lpstr>
      <vt:lpstr>Daten &amp; Domäne</vt:lpstr>
      <vt:lpstr>Domäne: FrischeMarkt GmbH</vt:lpstr>
      <vt:lpstr>Zentrale offene Punkte im Datenverständnis</vt:lpstr>
      <vt:lpstr>Datenbasis im Überblick</vt:lpstr>
      <vt:lpstr>Vorläufige Einschätzung möglicher Features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Ronja Thum</dc:creator>
  <cp:lastModifiedBy>Mamadou Diallo</cp:lastModifiedBy>
  <cp:revision>2</cp:revision>
  <dcterms:created xsi:type="dcterms:W3CDTF">2026-04-12T08:47:39Z</dcterms:created>
  <dcterms:modified xsi:type="dcterms:W3CDTF">2026-04-21T12:50:03Z</dcterms:modified>
</cp:coreProperties>
</file>